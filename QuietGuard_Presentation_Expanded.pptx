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669280" cy="5669280"/>
          </a:xfrm>
          <a:prstGeom prst="ellipse">
            <a:avLst/>
          </a:prstGeom>
          <a:solidFill>
            <a:srgbClr val="1C7D6B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1488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QUIETGUARD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94360" y="299923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Acoustic Surveillance &amp; Environmental Monitoring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345643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IoT Health Monitor &amp; Real-Time Alert Engine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4160520"/>
            <a:ext cx="384048" cy="384048"/>
          </a:xfrm>
          <a:prstGeom prst="ellipse">
            <a:avLst/>
          </a:prstGeom>
          <a:solidFill>
            <a:srgbClr val="12314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4151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41330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Platform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43799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Q (Linux Host + STM32 MCU)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4727448"/>
            <a:ext cx="384048" cy="384048"/>
          </a:xfrm>
          <a:prstGeom prst="ellipse">
            <a:avLst/>
          </a:prstGeom>
          <a:solidFill>
            <a:srgbClr val="12314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4718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47000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Sensors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49469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Mic Array (Acoustics) &amp; Adafruit SHT40 (Temp/Humidity)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5294376"/>
            <a:ext cx="384048" cy="384048"/>
          </a:xfrm>
          <a:prstGeom prst="ellipse">
            <a:avLst/>
          </a:prstGeom>
          <a:solidFill>
            <a:srgbClr val="12314D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5285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52669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 &amp; Display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55138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4-Wire SPI OLED Display &amp; Piezoelectric Alert Buzzer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5861304"/>
            <a:ext cx="384048" cy="384048"/>
          </a:xfrm>
          <a:prstGeom prst="ellipse">
            <a:avLst/>
          </a:prstGeom>
          <a:solidFill>
            <a:srgbClr val="12314D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5852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58338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Bridge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6080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MsgPack RPC over /dev/ttyHS1 linking Linux host and STM32 MCU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QuietGuard Exists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low-cost, standalone edge device for passive respiratory &amp; environmental monitoring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1264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5532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respiratory symptom tracking (e.g. persistent coughing) is rarely done outside clinical settings, leaving gaps between checkups.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temperature and humidity swings in living or care spaces often go unmonitored, despite influencing respiratory comfort.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consumer health wearables require active user participation and don't observe passive acoustic events.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Cloud-dependent monitoring devices raise latency, privacy, and connectivity concerns for always-on sensing.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783080"/>
            <a:ext cx="4754880" cy="4343400"/>
          </a:xfrm>
          <a:prstGeom prst="roundRect">
            <a:avLst>
              <a:gd name="adj" fmla="val 1684"/>
            </a:avLst>
          </a:prstGeom>
          <a:solidFill>
            <a:srgbClr val="0B2138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2376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3760" y="2423160"/>
            <a:ext cx="4251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edge-AI acoustic monitoring — no wearables, no cloud round-trip required for detection.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split: Linux host handles signal processing, STM32 handles real-time I/O and actuation.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OLED feedback and audible alerts give instant, private, on-device status.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sensor bus (I2C/SPI) designed to scale to additional vitals sensors later.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669280" cy="5669280"/>
          </a:xfrm>
          <a:prstGeom prst="ellipse">
            <a:avLst/>
          </a:prstGeom>
          <a:solidFill>
            <a:srgbClr val="1C7D6B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pipeline from raw signal capture to actuated feedback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12314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0" y="2194560"/>
            <a:ext cx="502920" cy="502920"/>
          </a:xfrm>
          <a:prstGeom prst="ellipse">
            <a:avLst/>
          </a:prstGeom>
          <a:solidFill>
            <a:srgbClr val="081A2C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2185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mic array + SHT40 continuously capture acoustic and environmental signals.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87368" y="324612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453128" y="196596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12314D"/>
          </a:solidFill>
          <a:ln/>
        </p:spPr>
      </p:sp>
      <p:sp>
        <p:nvSpPr>
          <p:cNvPr id="14" name="Text 12"/>
          <p:cNvSpPr/>
          <p:nvPr/>
        </p:nvSpPr>
        <p:spPr>
          <a:xfrm>
            <a:off x="4727448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013448" y="2194560"/>
            <a:ext cx="502920" cy="502920"/>
          </a:xfrm>
          <a:prstGeom prst="ellipse">
            <a:avLst/>
          </a:prstGeom>
          <a:solidFill>
            <a:srgbClr val="081A2C"/>
          </a:solidFill>
          <a:ln/>
        </p:spPr>
      </p:sp>
      <p:sp>
        <p:nvSpPr>
          <p:cNvPr id="16" name="Text 14"/>
          <p:cNvSpPr/>
          <p:nvPr/>
        </p:nvSpPr>
        <p:spPr>
          <a:xfrm>
            <a:off x="7013448" y="2185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27448" y="27889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27448" y="32004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host runs the Python cough-detection engine; STM32 runs Zephyr RTOS for I/O.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900416" y="324612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266176" y="1965960"/>
            <a:ext cx="3429000" cy="3246120"/>
          </a:xfrm>
          <a:prstGeom prst="roundRect">
            <a:avLst>
              <a:gd name="adj" fmla="val 2254"/>
            </a:avLst>
          </a:prstGeom>
          <a:solidFill>
            <a:srgbClr val="12314D"/>
          </a:solidFill>
          <a:ln/>
        </p:spPr>
      </p:sp>
      <p:sp>
        <p:nvSpPr>
          <p:cNvPr id="21" name="Text 19"/>
          <p:cNvSpPr/>
          <p:nvPr/>
        </p:nvSpPr>
        <p:spPr>
          <a:xfrm>
            <a:off x="8540496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10826496" y="2194560"/>
            <a:ext cx="502920" cy="502920"/>
          </a:xfrm>
          <a:prstGeom prst="ellipse">
            <a:avLst/>
          </a:prstGeom>
          <a:solidFill>
            <a:srgbClr val="081A2C"/>
          </a:solidFill>
          <a:ln/>
        </p:spPr>
      </p:sp>
      <p:sp>
        <p:nvSpPr>
          <p:cNvPr id="23" name="Text 21"/>
          <p:cNvSpPr/>
          <p:nvPr/>
        </p:nvSpPr>
        <p:spPr>
          <a:xfrm>
            <a:off x="10826496" y="2185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540496" y="27889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540496" y="32004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4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display and piezo buzzer surface live telemetry and threshold-based alerts.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102A44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605272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</a:t>
            </a:r>
            <a:pPr indent="0" marL="0">
              <a:buNone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stages are unified by the Arduino_RouterBridge MsgPack RPC channel over /dev/ttyHS1, giving sub-second round trip between detection and on-device alert.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COMPUTING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Dual-Core Architecture &amp; Bridge Telemetry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0B213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82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Host Core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754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Python to capture laptop mic audio streams.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decibel spikes in real time.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rolling 60-second cough rates.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Serializes detection events as MsgPack RPC frames.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417320"/>
            <a:ext cx="553212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rgbClr val="1C7D6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82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1737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STM32 Microcontroller Core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331720"/>
            <a:ext cx="49377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Zephyr RTOS firmware.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physical sensors continuously.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OLED display and triggers audio alerts.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all real-time, deterministic timing budgets.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0B213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INTER-CORE COMMUNICATION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86460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 </a:t>
            </a:r>
            <a:pPr indent="0" marL="0"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Arduino_RouterBridge using MsgPack RPC packets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Channel:  </a:t>
            </a:r>
            <a:pPr indent="0" marL="0"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/dev/ttyHS1 high-speed serial bus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48646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  </a:t>
            </a:r>
            <a:pPr indent="0" marL="0"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live cough counts directly to the display logic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1109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 the workload? Python's audio &amp; ML libraries need a full Linux runtime, while OLED/buzzer timing needs microsecond-level determinism only an RTOS-driven MCU can guarantee — the bridge lets each core do only what it's best at.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Stack &amp; Technologies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and libraries each core relies 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39312" cy="434340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0B213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121408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— Python Layer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2743200"/>
            <a:ext cx="2999232" cy="0"/>
          </a:xfrm>
          <a:prstGeom prst="line">
            <a:avLst/>
          </a:prstGeom>
          <a:noFill/>
          <a:ln w="12700">
            <a:solidFill>
              <a:srgbClr val="E1E8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26080"/>
            <a:ext cx="29992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sounddevice — real-time audio capture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RMS / decibel-energy computation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msgpack-python — RPC packet serialization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pyserial — /dev/ttyHS1 transport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43984" y="1783080"/>
            <a:ext cx="3639312" cy="434340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64024" y="2057400"/>
            <a:ext cx="457200" cy="457200"/>
          </a:xfrm>
          <a:prstGeom prst="ellipse">
            <a:avLst/>
          </a:prstGeom>
          <a:solidFill>
            <a:srgbClr val="0B2138"/>
          </a:solidFill>
          <a:ln/>
        </p:spPr>
      </p:sp>
      <p:sp>
        <p:nvSpPr>
          <p:cNvPr id="13" name="Text 11"/>
          <p:cNvSpPr/>
          <p:nvPr/>
        </p:nvSpPr>
        <p:spPr>
          <a:xfrm>
            <a:off x="4764024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58384" y="2121408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MCU — Zephyr Firmware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764024" y="2743200"/>
            <a:ext cx="2999232" cy="0"/>
          </a:xfrm>
          <a:prstGeom prst="line">
            <a:avLst/>
          </a:prstGeom>
          <a:noFill/>
          <a:ln w="12700">
            <a:solidFill>
              <a:srgbClr val="E1E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2926080"/>
            <a:ext cx="29992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RTOS — real-time task scheduling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I2C driver — SHT40 polling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 SPI driver — OLED frame writes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API — buzzer tone generation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39328" y="1783080"/>
            <a:ext cx="3639312" cy="434340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59368" y="2057400"/>
            <a:ext cx="457200" cy="457200"/>
          </a:xfrm>
          <a:prstGeom prst="ellipse">
            <a:avLst/>
          </a:prstGeom>
          <a:solidFill>
            <a:srgbClr val="0B2138"/>
          </a:solidFill>
          <a:ln/>
        </p:spPr>
      </p:sp>
      <p:sp>
        <p:nvSpPr>
          <p:cNvPr id="19" name="Text 17"/>
          <p:cNvSpPr/>
          <p:nvPr/>
        </p:nvSpPr>
        <p:spPr>
          <a:xfrm>
            <a:off x="8659368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53728" y="2121408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 &amp; Tooling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659368" y="2743200"/>
            <a:ext cx="2999232" cy="0"/>
          </a:xfrm>
          <a:prstGeom prst="line">
            <a:avLst/>
          </a:prstGeom>
          <a:noFill/>
          <a:ln w="12700">
            <a:solidFill>
              <a:srgbClr val="E1E8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59368" y="2926080"/>
            <a:ext cx="29992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Arduino_RouterBridge — MsgPack RPC framing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App Lab — build &amp; flash workflow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firmware/host version control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multimeter &amp; logic probe — validation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Hardware Layout &amp; Wiring Assembly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pic>
        <p:nvPicPr>
          <p:cNvPr id="5" name="Image 0" descr="extracted/benc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54480"/>
            <a:ext cx="498348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407408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Bench Setup — Live Telemetry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126480" y="1371600"/>
            <a:ext cx="55321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pic>
        <p:nvPicPr>
          <p:cNvPr id="8" name="Image 1" descr="extracted/breadboard_closeup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1554480"/>
            <a:ext cx="3977640" cy="2788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09360" y="44074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&amp; Bridge Wiring Close-Up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8640" y="50749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Q Base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536752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via USB-C for power and Linux host communication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251960" y="50749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Rails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251960" y="536752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breadboard rails distribute 5V and GND to modules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955280" y="50749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Wiring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955280" y="536752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jumpers route SPI, I2C, and PWM to their modules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 Audio Ingestion &amp; Processing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laptop microphone → Python sounddevice → cough-rate telemetry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15184" cy="356616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Acoustic Input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15798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laptop's internal microphone array, continuously sampled via Python's sounddevice library.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2999232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615184" cy="356616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17373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11880" y="228600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Amplitude Filtering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11880" y="2834640"/>
            <a:ext cx="215798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real-time decibel energy norms against a calibrated baseline threshold (0.35) to isolate transient cough spikes from room background noise.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2999232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615184" cy="356616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7373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46520" y="228600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Refractory Lockout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6520" y="2834640"/>
            <a:ext cx="215798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strict 1.5 second temporal lockout immediately following a detected peak to suppress echo tails and eliminate false double-counts.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78240" y="2999232"/>
            <a:ext cx="329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52560" y="1554480"/>
            <a:ext cx="2615184" cy="356616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81160" y="17373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7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281160" y="2286000"/>
            <a:ext cx="21579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 Buffer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281160" y="2834640"/>
            <a:ext cx="215798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a rolling 60-second queue to compute instantaneous frequency coughs/min, then dispatches live count updates over the /dev/ttyHS1 router bridge to the STM32 MCU.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669280" cy="5669280"/>
          </a:xfrm>
          <a:prstGeom prst="ellipse">
            <a:avLst/>
          </a:prstGeom>
          <a:solidFill>
            <a:srgbClr val="1C7D6B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&amp; CALIBRATION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Processing Parameters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constants governing the cough-detection state machine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109960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50749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Amplitude threshold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 (normalized RMS)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Separates cough transients from ambient room noise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Refractory lockout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one cough from being counted multiple times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window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 for the live coughs/min rate calculation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 rate threshold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3.0 coughs/min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Triggers the sustained 2500 Hz high-frequency alarm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Environmental poll interval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SHT40 temperature/humidity refresh 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4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High-temp alert threshold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30°C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7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Triggers periodic 1200 Hz thermal warning tone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B3B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ADAFRUIT SHT40 BREAKOUT — TEMPERATURE &amp; HUMIDITY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Sensing Stage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44805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pic>
        <p:nvPicPr>
          <p:cNvPr id="5" name="Image 0" descr="extracted/sht4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3291840" cy="2578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SHT40 breakout board with 4-pin header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00600" y="1508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MODULE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00600" y="178308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Adafruit SHT40 Temperature &amp; Humidity Sensor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800600" y="2377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PROTOCOL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00600" y="2633472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Bus via SDA and SCL lines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00600" y="3108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CHARACTERISTICS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00600" y="338328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high-accuracy ambient thermal (°C) and relative humidity (%) readings.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Polled continuously by the microcontroller every 2000 ms to update live OLED metrics.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I2C bus with headroom for future vitals or air-quality sensors.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800600" y="49377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0B2138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50474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 ms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800600" y="55046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interval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818120" y="49377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1C7D6B"/>
          </a:solidFill>
          <a:ln/>
        </p:spPr>
      </p:sp>
      <p:sp>
        <p:nvSpPr>
          <p:cNvPr id="17" name="Text 14"/>
          <p:cNvSpPr/>
          <p:nvPr/>
        </p:nvSpPr>
        <p:spPr>
          <a:xfrm>
            <a:off x="7818120" y="504748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I2C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818120" y="55046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protocol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669280" cy="5669280"/>
          </a:xfrm>
          <a:prstGeom prst="ellipse">
            <a:avLst/>
          </a:prstGeom>
          <a:solidFill>
            <a:srgbClr val="1C7D6B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 BUZZER MODULE — DIGITAL PWM TONE OUTPUT ON PIN D4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Actuation Stage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160520" cy="4572000"/>
          </a:xfrm>
          <a:prstGeom prst="roundRect">
            <a:avLst>
              <a:gd name="adj" fmla="val 1758"/>
            </a:avLst>
          </a:prstGeom>
          <a:solidFill>
            <a:srgbClr val="12314D"/>
          </a:solidFill>
          <a:ln/>
        </p:spPr>
      </p:sp>
      <p:pic>
        <p:nvPicPr>
          <p:cNvPr id="6" name="Image 0" descr="extracted/buzz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783080"/>
            <a:ext cx="352044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4406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 buzzer wired to the UNO Q signal bus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892040" y="1463040"/>
            <a:ext cx="6720840" cy="1371600"/>
          </a:xfrm>
          <a:prstGeom prst="roundRect">
            <a:avLst>
              <a:gd name="adj" fmla="val 5333"/>
            </a:avLst>
          </a:prstGeom>
          <a:solidFill>
            <a:srgbClr val="12314D"/>
          </a:solidFill>
          <a:ln w="15875">
            <a:solidFill>
              <a:srgbClr val="2FBF9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16276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Event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166360" y="2029968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tone confirming a detected cough.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1609344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1800 Hz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281160" y="206654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92040" y="3035808"/>
            <a:ext cx="6720840" cy="1371600"/>
          </a:xfrm>
          <a:prstGeom prst="roundRect">
            <a:avLst>
              <a:gd name="adj" fmla="val 5333"/>
            </a:avLst>
          </a:prstGeom>
          <a:solidFill>
            <a:srgbClr val="12314D"/>
          </a:solidFill>
          <a:ln w="15875">
            <a:solidFill>
              <a:srgbClr val="E279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66360" y="3200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Alarm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166360" y="3602736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alarm when cough rate ≥ 3.0 coughs/min.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281160" y="3182112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27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2500 Hz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281160" y="363931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92040" y="4608576"/>
            <a:ext cx="6720840" cy="1371600"/>
          </a:xfrm>
          <a:prstGeom prst="roundRect">
            <a:avLst>
              <a:gd name="adj" fmla="val 5333"/>
            </a:avLst>
          </a:prstGeom>
          <a:solidFill>
            <a:srgbClr val="12314D"/>
          </a:solidFill>
          <a:ln w="15875">
            <a:solidFill>
              <a:srgbClr val="2FBF9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0" y="4773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Temp Alert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166360" y="5175504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warning beep when temperature &gt; 30°C.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281160" y="4754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1200 Hz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281160" y="52120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Q — ONBOARD LED MATRIX &amp; LINUX SYSTEM SUPPORT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&amp; Control Unit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pic>
        <p:nvPicPr>
          <p:cNvPr id="5" name="Image 0" descr="extracted/unoq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828800"/>
            <a:ext cx="448056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349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Q on the bench, LED matrix active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CONFIGURATION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874520"/>
            <a:ext cx="5669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203911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Bus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63840" y="2039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SDA, SCL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17920" y="2468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the SHT40 sensor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43600" y="3172968"/>
            <a:ext cx="5669280" cy="1170432"/>
          </a:xfrm>
          <a:prstGeom prst="roundRect">
            <a:avLst>
              <a:gd name="adj" fmla="val 6250"/>
            </a:avLst>
          </a:prstGeom>
          <a:solidFill>
            <a:srgbClr val="EDF2F6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3337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Bus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863840" y="3337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13, 11, 10, 8, 7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217920" y="37673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CLK, DIN, CS, DC, RES — routed to the OLED screen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43600" y="4471416"/>
            <a:ext cx="56692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46360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Drive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863840" y="46360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17920" y="506577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the buzzer signal line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669280" cy="5669280"/>
          </a:xfrm>
          <a:prstGeom prst="ellipse">
            <a:avLst/>
          </a:prstGeom>
          <a:solidFill>
            <a:srgbClr val="1C7D6B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 STATE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OLED Interface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434840" cy="4480560"/>
          </a:xfrm>
          <a:prstGeom prst="roundRect">
            <a:avLst>
              <a:gd name="adj" fmla="val 1649"/>
            </a:avLst>
          </a:prstGeom>
          <a:solidFill>
            <a:srgbClr val="12314D"/>
          </a:solidFill>
          <a:ln/>
        </p:spPr>
      </p:sp>
      <p:pic>
        <p:nvPicPr>
          <p:cNvPr id="6" name="Image 0" descr="extracted/oled_ini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874520"/>
            <a:ext cx="3794760" cy="288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48463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display showing initialization telemetry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257800" y="16002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LAYOUT &amp; VISUAL HIERARCHY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57800" y="1965960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12314D"/>
          </a:solidFill>
          <a:ln w="9525">
            <a:solidFill>
              <a:srgbClr val="1B3B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0" y="196596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66560" y="196596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MONITOR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257800" y="2788920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12314D"/>
          </a:solidFill>
          <a:ln w="9525">
            <a:solidFill>
              <a:srgbClr val="1B3B5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0" y="278892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66560" y="278892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 — Status: ONLINE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257800" y="3611880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12314D"/>
          </a:solidFill>
          <a:ln w="9525">
            <a:solidFill>
              <a:srgbClr val="1B3B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0" y="361188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766560" y="361188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Readings — Temp: 28.4°C  Hum: 61%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257800" y="4434840"/>
            <a:ext cx="6217920" cy="713232"/>
          </a:xfrm>
          <a:prstGeom prst="roundRect">
            <a:avLst>
              <a:gd name="adj" fmla="val 10256"/>
            </a:avLst>
          </a:prstGeom>
          <a:solidFill>
            <a:srgbClr val="12314D"/>
          </a:solidFill>
          <a:ln w="9525">
            <a:solidFill>
              <a:srgbClr val="1B3B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0" y="443484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66560" y="443484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 Flag — SHT40 Active!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257800" y="53949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primary environmental telemetry and system readiness prior to acoustic event triggers.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MONITORING STATE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OLED Interface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pic>
        <p:nvPicPr>
          <p:cNvPr id="5" name="Image 0" descr="extracted/oled_active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737360"/>
            <a:ext cx="278892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40233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telemetry close-up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977640" y="150876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pic>
        <p:nvPicPr>
          <p:cNvPr id="8" name="Image 1" descr="extracted/oled_active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0" y="1737360"/>
            <a:ext cx="2788920" cy="21945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06240" y="40233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bench, LED matrix active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45236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TELEMETRY SCREEN LAYOUT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452360" y="1810512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3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— QUIETGUARD MONITOR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3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 — Live Thermal Telemetry (Temp: 27.7°C, Hum: 60%)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3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2 — Live Acoustic Metric (Cough Count: 0)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452360" y="3429000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0B2138"/>
          </a:solidFill>
          <a:ln/>
        </p:spPr>
      </p:sp>
      <p:sp>
        <p:nvSpPr>
          <p:cNvPr id="13" name="Text 9"/>
          <p:cNvSpPr/>
          <p:nvPr/>
        </p:nvSpPr>
        <p:spPr>
          <a:xfrm>
            <a:off x="772668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UPDATING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726680" y="39319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Cough Count value updates instantaneously when the Python acoustic engine detects a cough event and dispatches an RPC update.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726680" y="5074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refresh keeps pace with the 1.5 s detection lockout, so no cough event is visually missed.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669280" cy="5669280"/>
          </a:xfrm>
          <a:prstGeom prst="ellipse">
            <a:avLst/>
          </a:prstGeom>
          <a:solidFill>
            <a:srgbClr val="1C7D6B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ORGANIZATION &amp; NOISE REDUCTION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Breadboard Wiring &amp; Cable Management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309360" cy="4572000"/>
          </a:xfrm>
          <a:prstGeom prst="roundRect">
            <a:avLst>
              <a:gd name="adj" fmla="val 1600"/>
            </a:avLst>
          </a:prstGeom>
          <a:solidFill>
            <a:srgbClr val="12314D"/>
          </a:solidFill>
          <a:ln/>
        </p:spPr>
      </p:sp>
      <p:pic>
        <p:nvPicPr>
          <p:cNvPr id="6" name="Image 0" descr="extracted/cable_mgm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828800"/>
            <a:ext cx="576072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78040" y="1691640"/>
            <a:ext cx="384048" cy="384048"/>
          </a:xfrm>
          <a:prstGeom prst="ellipse">
            <a:avLst/>
          </a:prstGeom>
          <a:solidFill>
            <a:srgbClr val="1C7D6B"/>
          </a:solidFill>
          <a:ln/>
        </p:spPr>
      </p:sp>
      <p:sp>
        <p:nvSpPr>
          <p:cNvPr id="8" name="Text 5"/>
          <p:cNvSpPr/>
          <p:nvPr/>
        </p:nvSpPr>
        <p:spPr>
          <a:xfrm>
            <a:off x="7178040" y="1682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26680" y="16733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Organization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26680" y="19659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Dual-side power rails supply unified 5V and GND across all external modules.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178040" y="2770632"/>
            <a:ext cx="384048" cy="384048"/>
          </a:xfrm>
          <a:prstGeom prst="ellipse">
            <a:avLst/>
          </a:prstGeom>
          <a:solidFill>
            <a:srgbClr val="1C7D6B"/>
          </a:solidFill>
          <a:ln/>
        </p:spPr>
      </p:sp>
      <p:sp>
        <p:nvSpPr>
          <p:cNvPr id="12" name="Text 9"/>
          <p:cNvSpPr/>
          <p:nvPr/>
        </p:nvSpPr>
        <p:spPr>
          <a:xfrm>
            <a:off x="7178040" y="2761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726680" y="27523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 Management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26680" y="3044952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Zip-ties consolidate jumper bundles to ensure reliable SPI signal integrity and prevent accidental disconnection.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178040" y="3849624"/>
            <a:ext cx="384048" cy="384048"/>
          </a:xfrm>
          <a:prstGeom prst="ellipse">
            <a:avLst/>
          </a:prstGeom>
          <a:solidFill>
            <a:srgbClr val="1C7D6B"/>
          </a:solidFill>
          <a:ln/>
        </p:spPr>
      </p:sp>
      <p:sp>
        <p:nvSpPr>
          <p:cNvPr id="16" name="Text 13"/>
          <p:cNvSpPr/>
          <p:nvPr/>
        </p:nvSpPr>
        <p:spPr>
          <a:xfrm>
            <a:off x="7178040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26680" y="38313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26680" y="4123944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ground return lines prevent analog noise coupling between the display driver and sensor lines.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178040" y="4928616"/>
            <a:ext cx="384048" cy="384048"/>
          </a:xfrm>
          <a:prstGeom prst="ellipse">
            <a:avLst/>
          </a:prstGeom>
          <a:solidFill>
            <a:srgbClr val="1C7D6B"/>
          </a:solidFill>
          <a:ln/>
        </p:spPr>
      </p:sp>
      <p:sp>
        <p:nvSpPr>
          <p:cNvPr id="20" name="Text 17"/>
          <p:cNvSpPr/>
          <p:nvPr/>
        </p:nvSpPr>
        <p:spPr>
          <a:xfrm>
            <a:off x="7178040" y="4919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26680" y="4910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726680" y="5202936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color-coding per bus (power, I2C, SPI, PWM) speeds up debugging and re-wiring during iteration.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PIN AND PROTOCOL REFERENCE FOR THE QUIETGUARD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Interface Mapping Table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109960" cy="4023360"/>
        </p:xfrm>
        <a:graphic>
          <a:graphicData uri="http://schemas.openxmlformats.org/drawingml/2006/table">
            <a:tbl>
              <a:tblPr/>
              <a:tblGrid>
                <a:gridCol w="2331720"/>
                <a:gridCol w="2194560"/>
                <a:gridCol w="384048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/ Protocol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Pin(s) on UNO 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13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Adafruit SHT40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SDA, SCL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&amp; humidity sensing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 OLED Display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4-Wire SPI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(CLK), 11 (DIN), 10 (CS), 8 (DC), 7 (RES)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telemetry display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Piezoelectric Buzzer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PWM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alert tones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Microphone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/ Internal Audio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 host (Python)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Acoustic cough-event capture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Inter-Core Bridge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MsgPack RPC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/dev/ttyHS1 (serial)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24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↔ MCU telemetry transfer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behavior across repeated bench trials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72491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2724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27.7–28.4</a:t>
            </a:r>
            <a:pPr algn="ctr" indent="0" marL="0">
              <a:buNone/>
            </a:pPr>
            <a:r>
              <a:rPr lang="en-US" sz="1500" b="1" dirty="0">
                <a:solidFill>
                  <a:srgbClr val="1C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°C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temperature range logged on the SPI display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783080"/>
            <a:ext cx="272491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1965960"/>
            <a:ext cx="2724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60–61</a:t>
            </a:r>
            <a:pPr algn="ctr" indent="0" marL="0">
              <a:buNone/>
            </a:pPr>
            <a:r>
              <a:rPr lang="en-US" sz="1500" b="1" dirty="0">
                <a:solidFill>
                  <a:srgbClr val="1C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93592" y="2606040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humidity range logged over the same trials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2784" y="1783080"/>
            <a:ext cx="272491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72784" y="1965960"/>
            <a:ext cx="2724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</a:t>
            </a:r>
            <a:pPr algn="ctr" indent="0" marL="0">
              <a:buNone/>
            </a:pPr>
            <a:r>
              <a:rPr lang="en-US" sz="1500" b="1" dirty="0">
                <a:solidFill>
                  <a:srgbClr val="1C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sec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55664" y="2606040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 lockout confirmed to prevent double-counting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34856" y="1783080"/>
            <a:ext cx="272491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34856" y="1965960"/>
            <a:ext cx="2724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</a:t>
            </a:r>
            <a:pPr algn="ctr" indent="0" marL="0">
              <a:buNone/>
            </a:pPr>
            <a:r>
              <a:rPr lang="en-US" sz="1500" b="1" dirty="0">
                <a:solidFill>
                  <a:srgbClr val="1C7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sec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317736" y="2606040"/>
            <a:ext cx="23591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RPC latency from cough detection to buzzer response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1109960" cy="2423160"/>
          </a:xfrm>
          <a:prstGeom prst="roundRect">
            <a:avLst>
              <a:gd name="adj" fmla="val 3019"/>
            </a:avLst>
          </a:prstGeom>
          <a:solidFill>
            <a:srgbClr val="0B213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DEMONSTRATION MILESTONES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224528"/>
            <a:ext cx="104241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 ambient data sampling (27.7°C–28.4°C / 60%–61% RH) on the SPI display.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host audio ingestion debouncing and inter-core bridge transmission.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buzzer actuation response based on cough event triggers.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OLED transition from initialization state to live monitoring state without manual restart.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trials showed consistent rolling coughs/min recalculation as the 60-second window slides.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669280" cy="5669280"/>
          </a:xfrm>
          <a:prstGeom prst="ellipse">
            <a:avLst/>
          </a:prstGeom>
          <a:solidFill>
            <a:srgbClr val="1C7D6B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THE BENCH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Engineering Trade-offs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1078992"/>
          </a:xfrm>
          <a:prstGeom prst="roundRect">
            <a:avLst>
              <a:gd name="adj" fmla="val 6780"/>
            </a:avLst>
          </a:prstGeom>
          <a:solidFill>
            <a:srgbClr val="12314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0136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from ambient noise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0" cy="804672"/>
          </a:xfrm>
          <a:prstGeom prst="line">
            <a:avLst/>
          </a:prstGeom>
          <a:noFill/>
          <a:ln w="12700">
            <a:solidFill>
              <a:srgbClr val="1B3B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801368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chatter and chair creaks initially tripped the amplitude filter; the 0.35 threshold was tuned iteratively against recorded bench sessions.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109960" cy="1078992"/>
          </a:xfrm>
          <a:prstGeom prst="roundRect">
            <a:avLst>
              <a:gd name="adj" fmla="val 6780"/>
            </a:avLst>
          </a:prstGeom>
          <a:solidFill>
            <a:srgbClr val="12314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9008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Double-counting single coughs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754880" y="3017520"/>
            <a:ext cx="0" cy="804672"/>
          </a:xfrm>
          <a:prstGeom prst="line">
            <a:avLst/>
          </a:prstGeom>
          <a:noFill/>
          <a:ln w="12700">
            <a:solidFill>
              <a:srgbClr val="1B3B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990088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cough's echo tail could re-trigger detection; solved with the 1.5 s refractory lockout rather than a purely amplitude-based cutoff.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11109960" cy="1078992"/>
          </a:xfrm>
          <a:prstGeom prst="roundRect">
            <a:avLst>
              <a:gd name="adj" fmla="val 6780"/>
            </a:avLst>
          </a:prstGeom>
          <a:solidFill>
            <a:srgbClr val="12314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7880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Cross-core timing drift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754880" y="4206240"/>
            <a:ext cx="0" cy="804672"/>
          </a:xfrm>
          <a:prstGeom prst="line">
            <a:avLst/>
          </a:prstGeom>
          <a:noFill/>
          <a:ln w="12700">
            <a:solidFill>
              <a:srgbClr val="1B3B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4178808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prototypes saw the OLED lag behind actual cough events; moving to a dedicated MsgPack RPC channel over /dev/ttyHS1 removed the bottleneck.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109960" cy="1078992"/>
          </a:xfrm>
          <a:prstGeom prst="roundRect">
            <a:avLst>
              <a:gd name="adj" fmla="val 6780"/>
            </a:avLst>
          </a:prstGeom>
          <a:solidFill>
            <a:srgbClr val="12314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36752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 signal noise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754880" y="5394960"/>
            <a:ext cx="0" cy="804672"/>
          </a:xfrm>
          <a:prstGeom prst="line">
            <a:avLst/>
          </a:prstGeom>
          <a:noFill/>
          <a:ln w="12700">
            <a:solidFill>
              <a:srgbClr val="1B3B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5367528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display flicker traced to shared ground returns with sensor lines; resolved with dedicated ground paths per Cable Management practices.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&amp; Roadmap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 for moving from bench prototype to standalone product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47672"/>
            <a:ext cx="1234440" cy="512064"/>
          </a:xfrm>
          <a:prstGeom prst="roundRect">
            <a:avLst>
              <a:gd name="adj" fmla="val 10714"/>
            </a:avLst>
          </a:prstGeom>
          <a:solidFill>
            <a:srgbClr val="1C7D6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47672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94560" y="1856232"/>
            <a:ext cx="3383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hardware microphone module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15000" y="1856232"/>
            <a:ext cx="5760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purpose-built mic directly onto the breadboard for a fully standalone unit, independent of the host laptop.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907792"/>
            <a:ext cx="1234440" cy="512064"/>
          </a:xfrm>
          <a:prstGeom prst="roundRect">
            <a:avLst>
              <a:gd name="adj" fmla="val 10714"/>
            </a:avLst>
          </a:prstGeom>
          <a:solidFill>
            <a:srgbClr val="1C7D6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07792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4560" y="2816352"/>
            <a:ext cx="3383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telemetry streaming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2816352"/>
            <a:ext cx="5760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Wi-Fi streaming to cloud healthcare dashboards for remote trend review.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67912"/>
            <a:ext cx="1234440" cy="512064"/>
          </a:xfrm>
          <a:prstGeom prst="roundRect">
            <a:avLst>
              <a:gd name="adj" fmla="val 10714"/>
            </a:avLst>
          </a:prstGeom>
          <a:solidFill>
            <a:srgbClr val="0B213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67912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94560" y="3776472"/>
            <a:ext cx="3383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ML classification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15000" y="3776472"/>
            <a:ext cx="5760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amplitude-threshold detection toward a lightweight on-device model to distinguish cough types from other noises.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828032"/>
            <a:ext cx="1234440" cy="512064"/>
          </a:xfrm>
          <a:prstGeom prst="roundRect">
            <a:avLst>
              <a:gd name="adj" fmla="val 10714"/>
            </a:avLst>
          </a:prstGeom>
          <a:solidFill>
            <a:srgbClr val="0B213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828032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94560" y="4736592"/>
            <a:ext cx="3383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&amp; enclosure design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15000" y="4736592"/>
            <a:ext cx="5760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dual-core board, sensors, and buzzer into a powered, wall- or bedside-mountable enclosure.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623560"/>
            <a:ext cx="11109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B2B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788152"/>
            <a:ext cx="1234440" cy="512064"/>
          </a:xfrm>
          <a:prstGeom prst="roundRect">
            <a:avLst>
              <a:gd name="adj" fmla="val 10714"/>
            </a:avLst>
          </a:prstGeom>
          <a:solidFill>
            <a:srgbClr val="3B4A5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788152"/>
            <a:ext cx="1234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94560" y="5696712"/>
            <a:ext cx="3383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Multi-vitals expansion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15000" y="5696712"/>
            <a:ext cx="57607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I2C bus to additional sensors (e.g. SpO2, ambient air quality) for a broader passive health picture.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669280" cy="5669280"/>
          </a:xfrm>
          <a:prstGeom prst="ellipse">
            <a:avLst/>
          </a:prstGeom>
          <a:solidFill>
            <a:srgbClr val="1C7D6B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Demonstration &amp; 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DEMONSTRATION MILESTONES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 ambient data sampling (27.7°C–28.4°C / 60%–61% RH) on the SPI display.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host audio ingestion debouncing and inter-core bridge transmission.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buzzer actuation response based on cough event triggers.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9436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4498848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3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a dedicated hardware microphone module directly onto the breadboard for a fully standalone unit.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3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Wi-Fi telemetry streaming to cloud healthcare dashboards.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463040"/>
            <a:ext cx="5120640" cy="4526280"/>
          </a:xfrm>
          <a:prstGeom prst="roundRect">
            <a:avLst>
              <a:gd name="adj" fmla="val 1616"/>
            </a:avLst>
          </a:prstGeom>
          <a:solidFill>
            <a:srgbClr val="12314D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12280" y="214884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demonstrates that a low-cost, dual-core edge board can passively monitor respiratory acoustic events and environmental conditions without cloud dependence — giving instant local feedback through an OLED display and audible alerts.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12280" y="3520440"/>
            <a:ext cx="4480560" cy="0"/>
          </a:xfrm>
          <a:prstGeom prst="line">
            <a:avLst/>
          </a:prstGeom>
          <a:noFill/>
          <a:ln w="12700">
            <a:solidFill>
              <a:srgbClr val="1B3B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— Dual-Core IoT Health &amp; Acoustic Monitor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12280" y="42062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12280" y="4709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 &amp; display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modes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321040" y="42062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21040" y="4709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cores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829800" y="42062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829800" y="47091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detection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F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1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669280" cy="5669280"/>
          </a:xfrm>
          <a:prstGeom prst="ellipse">
            <a:avLst/>
          </a:prstGeom>
          <a:solidFill>
            <a:srgbClr val="1C7D6B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834640" y="2834640"/>
            <a:ext cx="6492240" cy="1234440"/>
          </a:xfrm>
          <a:prstGeom prst="roundRect">
            <a:avLst>
              <a:gd name="adj" fmla="val 4444"/>
            </a:avLst>
          </a:prstGeom>
          <a:solidFill>
            <a:srgbClr val="0C3A66"/>
          </a:solidFill>
          <a:ln/>
        </p:spPr>
      </p:sp>
      <p:sp>
        <p:nvSpPr>
          <p:cNvPr id="4" name="Text 2"/>
          <p:cNvSpPr/>
          <p:nvPr/>
        </p:nvSpPr>
        <p:spPr>
          <a:xfrm>
            <a:off x="2834640" y="2834640"/>
            <a:ext cx="6492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— Dual-Core IoT Health &amp; Acoustic Monitor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QuietGuard  |  Edge AI Acoustic &amp; Environmental Monitor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2026-08-23T11:36:36Z</dcterms:created>
  <dcterms:modified xsi:type="dcterms:W3CDTF">2026-08-23T11:36:36Z</dcterms:modified>
</cp:coreProperties>
</file>